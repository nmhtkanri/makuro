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007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Meiryo UI"/>
              </a:defRPr>
            </a:pPr>
            <a:r>
              <a:t>経費一覧表マクロ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45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BBDDF5"/>
                </a:solidFill>
                <a:latin typeface="Meiryo UI"/>
              </a:defRPr>
            </a:pPr>
            <a:r>
              <a:t>操作マニュアル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4552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CCE5F5"/>
                </a:solidFill>
                <a:latin typeface="Meiryo UI"/>
              </a:defRPr>
            </a:pPr>
            <a:r>
              <a:t>jinjer・e-staffing・Freee の経費データを集計し、</a:t>
            </a:r>
            <a:br/>
            <a:r>
              <a:t>カラー勤務表・CSV へ出力するまでの手順書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ACCE5"/>
                </a:solidFill>
                <a:latin typeface="Meiryo UI"/>
              </a:defRPr>
            </a:pPr>
            <a:r>
              <a:t>NMヒューマテック  管理部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このマニュアルについて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14630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3つの経費管理システム（jinjer / e-staffing / Freee）の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データを Excel 上で統合・集計し、カラー勤務表への書き込み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や jinjer 用 CSV の出力までを自動化します。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280160"/>
            <a:ext cx="5486400" cy="14630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3716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対象者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経費処理を初めて担当する方を想定しています。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各シートのボタンを押す順番どおりに進めれば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迷わず操作できるよう構成しています。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3E50"/>
                </a:solidFill>
                <a:latin typeface="Meiryo UI"/>
              </a:defRPr>
            </a:pPr>
            <a:r>
              <a:t>操作の全体フロー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データ</a:t>
            </a:r>
            <a:br/>
            <a:r>
              <a:t>貼り付け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411480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007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経費情報</a:t>
            </a:r>
            <a:br/>
            <a:r>
              <a:t>取得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7" y="411480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経費一覧</a:t>
            </a:r>
            <a:br/>
            <a:r>
              <a:t>作成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7" y="411480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00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R～Y列</a:t>
            </a:r>
            <a:br/>
            <a:r>
              <a:t>振り分け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411480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33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追加金額</a:t>
            </a:r>
            <a:br/>
            <a:r>
              <a:t>挿入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411480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重複チェック</a:t>
            </a:r>
            <a:br/>
            <a:r>
              <a:t>（手動）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411480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99999"/>
                </a:solidFill>
                <a:latin typeface="Meiryo UI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3566160"/>
            <a:ext cx="1417320" cy="1645920"/>
          </a:xfrm>
          <a:prstGeom prst="roundRect">
            <a:avLst>
              <a:gd name="adj" fmla="val 8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3611880"/>
            <a:ext cx="1417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3977639"/>
            <a:ext cx="1417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勤務表</a:t>
            </a:r>
            <a:br/>
            <a:r>
              <a:t>書き込み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11274552" cy="822960"/>
          </a:xfrm>
          <a:prstGeom prst="rect">
            <a:avLst/>
          </a:prstGeom>
          <a:solidFill>
            <a:srgbClr val="FFFDE8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532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56D0A"/>
                </a:solidFill>
                <a:latin typeface="Meiryo UI"/>
              </a:defRPr>
            </a:pPr>
            <a:r>
              <a:t>⚠  重要チェックポイント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5500"/>
                </a:solidFill>
                <a:latin typeface="Meiryo UI"/>
              </a:defRPr>
            </a:pPr>
            <a:r>
              <a:t>集計シートの金額は基本的に正しいですが、重複が発生する場合があります。STEP 6 で必ず目視チェックを行ってください。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全体フロー図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各STEPで押すボタンとシートの対応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8016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データ貼り付け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28016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「経費申請_xxxx」シート</a:t>
            </a:r>
            <a:br/>
            <a:r>
              <a:t>「① jinjer 経費取り込み」ボタン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6479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eiryo U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84248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07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29967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29967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7AC1"/>
                </a:solidFill>
                <a:latin typeface="Meiryo UI"/>
              </a:defRPr>
            </a:pPr>
            <a:r>
              <a:t>経費情報取得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84248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029967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「経費申請_xxxx」シート</a:t>
            </a:r>
            <a:br/>
            <a:r>
              <a:t>「② 経費情報取得」ボタン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5146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eiryo U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34056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0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9776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779776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6AA7"/>
                </a:solidFill>
                <a:latin typeface="Meiryo UI"/>
              </a:defRPr>
            </a:pPr>
            <a:r>
              <a:t>経費一覧作成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734056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779776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「jinjer経費取り込み用」シート</a:t>
            </a:r>
            <a:br/>
            <a:r>
              <a:t>「経費一覧作成！」ボタン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26440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eiryo UI"/>
              </a:defRPr>
            </a:pPr>
            <a: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83864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0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29584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529584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5FA3"/>
                </a:solidFill>
                <a:latin typeface="Meiryo UI"/>
              </a:defRPr>
            </a:pPr>
            <a:r>
              <a:t>R～Y列振り分け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483864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529584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「jinjer経費取り込み用」シート</a:t>
            </a:r>
            <a:br/>
            <a:r>
              <a:t>「カラー勤務表合計のみトライ」ボタン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014215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eiryo UI"/>
              </a:defRPr>
            </a:pPr>
            <a: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33672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33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79392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279392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37AB7"/>
                </a:solidFill>
                <a:latin typeface="Meiryo UI"/>
              </a:defRPr>
            </a:pPr>
            <a:r>
              <a:t>追加金額挿入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233672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337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279392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「jinjer経費取り込み用」シート</a:t>
            </a:r>
            <a:br/>
            <a:r>
              <a:t>「追加金額 挿入！」ボタン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7640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eiryo UI"/>
              </a:defRPr>
            </a:pPr>
            <a: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83479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29199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29199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7E22"/>
                </a:solidFill>
                <a:latin typeface="Meiryo UI"/>
              </a:defRPr>
            </a:pPr>
            <a:r>
              <a:t>重複チェック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983479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5029199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「集計」シートを目視確認</a:t>
            </a:r>
            <a:br/>
            <a:r>
              <a:t>同一人物の重複行がないか確認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513831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eiryo UI"/>
              </a:defRPr>
            </a:pPr>
            <a:r>
              <a:t>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33288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79007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5779007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8A745"/>
                </a:solidFill>
                <a:latin typeface="Meiryo UI"/>
              </a:defRPr>
            </a:pPr>
            <a:r>
              <a:t>勤務表書き込み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5733288"/>
            <a:ext cx="50292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5779007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「jinjer経費取り込み用」シート</a:t>
            </a:r>
            <a:br/>
            <a:r>
              <a:t>「マクロへ GO！」ボタン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1234440"/>
            <a:ext cx="2286000" cy="5212080"/>
          </a:xfrm>
          <a:prstGeom prst="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132588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Meiryo UI"/>
              </a:defRPr>
            </a:pPr>
            <a:r>
              <a:t>補足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169164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STEP 1～2 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月初に1回だけ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実行します。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STEP 3～5 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続けて実行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してください。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STEP 6 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必ず手動で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確認！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1  データ貼り付け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jinjer の経貼CSVを取り込みます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411480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「経費申請_xxxx」シートのボタン配置 スクリーンショット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383280" cy="4114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操作手順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1. 「経費申請_xxxx」シートを開く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2. 「① jinjer 経費取り込み」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ボタンをクリック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3. ファイル選択ダイアログが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表示される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4. jinjer からダウンロードした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CSV ファイルを選択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5. 自動でシートにデータが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貼り付けられる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69280"/>
            <a:ext cx="11640312" cy="502920"/>
          </a:xfrm>
          <a:prstGeom prst="rect">
            <a:avLst/>
          </a:prstGeom>
          <a:solidFill>
            <a:srgbClr val="FFFDE8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5742432"/>
            <a:ext cx="116403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56D0A"/>
                </a:solidFill>
                <a:latin typeface="Meiryo UI"/>
              </a:defRPr>
            </a:pPr>
            <a:r>
              <a:t>  ⚠  CSVファイルは事前に jinjer からダウンロードしておいてください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2  経費情報取得（統合）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取り込んだデータを「経費一覧表」に統合します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411480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「経費申請_xxxx」シート 「②経費情報取得」ボタン スクリーンショット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383280" cy="4114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操作手順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1. 同じ「経費申請_xxxx」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シートのまま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2. 「② 経費情報取得」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ボタンをクリック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3. jinjer / e-staffing / Freee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のデータが自動統合される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4. 社員番号の自動照合と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重複削除が実行される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5. 完了メッセージが出たらOK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11274552" cy="640080"/>
          </a:xfrm>
          <a:prstGeom prst="rect">
            <a:avLst/>
          </a:prstGeom>
          <a:solidFill>
            <a:srgbClr val="E8F8E8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B7A30"/>
                </a:solidFill>
                <a:latin typeface="Meiryo UI"/>
              </a:defRPr>
            </a:pPr>
            <a:r>
              <a:t>✅  このSTEPで jinjer・e-staffing・Freee の3ソースが「経費一覧表」シートに一元化されます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3  経費一覧作成（集計）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経費データをカテゴリ別に集計します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365760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「jinjer経費取り込み用」シート 「経費一覧作成！」ボタン スクリーンショット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383280" cy="36576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操作手順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1. 「jinjer経費取り込み用」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シートに移動する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2. 「経費一覧作成！」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ボタンをクリック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3. 「設定」シートのキーワードで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経費が自動分類される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4. 「集計」シートが更新される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（C～K列に金額）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74552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8BD8"/>
                </a:solidFill>
                <a:latin typeface="Meiryo UI"/>
              </a:defRPr>
            </a:pPr>
            <a:r>
              <a:t>集計シートの列構成: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8640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5046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0468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社員番号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548640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2888" y="55046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50468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名前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48640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7" y="55046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50468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合計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548640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55046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50468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顧客勤務手当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59" y="548640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7" y="55046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550468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RINK手当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80" y="548640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550468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550468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手当2(D+E)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85216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704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7044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顧客請求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585216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2888" y="58704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87044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交通費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85216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7" y="58704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87044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非課税立替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85216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7" y="58704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J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87044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その他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59" y="585216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7" y="58704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587044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テレワーク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5852160"/>
            <a:ext cx="320040" cy="274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30967" y="5870448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eiryo UI"/>
              </a:defRPr>
            </a:pPr>
            <a:r>
              <a:t>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5870448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日付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4  R～Y列 振り分け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集計結果をカラー勤務表用の列に配置します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256032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「jinjer経費取り込み用」シート 「カラー勤務表合計のみトライ」ボタン スクリーンショット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38328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操作手順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1. 同じ「jinjer経費取り込み用」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シートのまま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2. 「カラー勤務表合計のみ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トライ」ボタンをクリック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3. 完了メッセージが出たらOK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C3E50"/>
                </a:solidFill>
                <a:latin typeface="Meiryo UI"/>
              </a:defRPr>
            </a:pPr>
            <a:r>
              <a:t>振り分けマッピング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60"/>
            <a:ext cx="1188720" cy="320040"/>
          </a:xfrm>
          <a:prstGeom prst="rect">
            <a:avLst/>
          </a:prstGeom>
          <a:solidFill>
            <a:srgbClr val="008B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0799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入力列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480560"/>
            <a:ext cx="1828800" cy="320040"/>
          </a:xfrm>
          <a:prstGeom prst="rect">
            <a:avLst/>
          </a:prstGeom>
          <a:solidFill>
            <a:srgbClr val="008B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50799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480560"/>
            <a:ext cx="1645920" cy="320040"/>
          </a:xfrm>
          <a:prstGeom prst="rect">
            <a:avLst/>
          </a:prstGeom>
          <a:solidFill>
            <a:srgbClr val="008B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50799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出力列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4480560"/>
            <a:ext cx="3200400" cy="320040"/>
          </a:xfrm>
          <a:prstGeom prst="rect">
            <a:avLst/>
          </a:prstGeom>
          <a:solidFill>
            <a:srgbClr val="008B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50799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出力内容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280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F列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48006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82803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手当2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80060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82803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R列 + S列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800600"/>
            <a:ext cx="3200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482803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"顧客勤務手当" + 金額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118872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48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H列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5120640"/>
            <a:ext cx="182880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14807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交通費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5120640"/>
            <a:ext cx="164592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14807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V列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5120640"/>
            <a:ext cx="320040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514807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金額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06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6811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G列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54406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546811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顧客請求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544068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546811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W列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5440680"/>
            <a:ext cx="3200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546811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金額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60720"/>
            <a:ext cx="118872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8815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I列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37360" y="5760720"/>
            <a:ext cx="182880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0" y="578815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非課税立替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5760720"/>
            <a:ext cx="164592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578815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X列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5760720"/>
            <a:ext cx="3200400" cy="320040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578815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金額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08076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10819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J列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37360" y="60807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0" y="610819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その他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608076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610819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Y列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6080760"/>
            <a:ext cx="3200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610819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eiryo UI"/>
              </a:defRPr>
            </a:pPr>
            <a:r>
              <a:t>金額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00800"/>
            <a:ext cx="1188720" cy="32004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4282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C3545"/>
                </a:solidFill>
                <a:latin typeface="Meiryo UI"/>
              </a:defRPr>
            </a:pPr>
            <a:r>
              <a:t>K列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6400800"/>
            <a:ext cx="1828800" cy="32004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0" y="6428232"/>
            <a:ext cx="16459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C3545"/>
                </a:solidFill>
                <a:latin typeface="Meiryo UI"/>
              </a:defRPr>
            </a:pPr>
            <a:r>
              <a:t>テレワーク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6400800"/>
            <a:ext cx="1645920" cy="32004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6428232"/>
            <a:ext cx="14630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C3545"/>
                </a:solidFill>
                <a:latin typeface="Meiryo UI"/>
              </a:defRPr>
            </a:pPr>
            <a:r>
              <a:t>---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6400800"/>
            <a:ext cx="3200400" cy="32004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0" y="6428232"/>
            <a:ext cx="301752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C3545"/>
                </a:solidFill>
                <a:latin typeface="Meiryo UI"/>
              </a:defRPr>
            </a:pPr>
            <a:r>
              <a:t>転記しない（廃止）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5  追加金額 挿入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Q列の値をX/Y列にマージします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365760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「jinjer経費取り込み用」シート 「追加金額 挿入！」ボタン スクリーンショット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383280" cy="36576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操作手順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1. 同じ「jinjer経費取り込み用」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シートのまま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2. 「追加金額 挿入！」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ボタンをクリック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3. Q列の追加金額が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X列・Y列にマージされる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4. 完了メッセージが出たらOK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11274552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5FA3"/>
                </a:solidFill>
                <a:latin typeface="Meiryo UI"/>
              </a:defRPr>
            </a:pPr>
            <a:r>
              <a:t>💡  STEP 3 → 4 → 5 は連続して実行してください。順番を入れ替えると正しく集計されません。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6  重複チェック（手動確認）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集計シートの金額に重複がないか目視で確認します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40312" cy="502920"/>
          </a:xfrm>
          <a:prstGeom prst="rect">
            <a:avLst/>
          </a:prstGeom>
          <a:solidFill>
            <a:srgbClr val="FFFDE8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116403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56D0A"/>
                </a:solidFill>
                <a:latin typeface="Meiryo UI"/>
              </a:defRPr>
            </a:pPr>
            <a:r>
              <a:t>  ⚠  このSTEPは自動化されていません。必ず手動で確認してください！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00" cy="365760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6949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「集計」シートの金額一覧 スクリーンショット</a:t>
            </a:r>
            <a:br/>
            <a:r>
              <a:t>同一人物が複数行に分かれていないか確認 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3840480" cy="3657600"/>
          </a:xfrm>
          <a:prstGeom prst="rect">
            <a:avLst/>
          </a:prstGeom>
          <a:solidFill>
            <a:srgbClr val="E8F4F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E67E22"/>
                </a:solidFill>
                <a:latin typeface="Meiryo UI"/>
              </a:defRPr>
            </a:pPr>
            <a:r>
              <a:t>チェックポイント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317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☑ 同じ社員が複数行に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分かれていないか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☑ 金額が異常に大きい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行がないか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☑ 合計(C列)と各費目の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内訳が合っているか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☑ 社員番号が空欄の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行がないか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問題を見つけたら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手動で修正してください。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solidFill>
            <a:srgbClr val="FFFDE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56D0A"/>
                </a:solidFill>
                <a:latin typeface="Meiryo UI"/>
              </a:defRPr>
            </a:pPr>
            <a:r>
              <a:t>⚠  重複があると、カラー勤務表に二重計上されます。ここでの確認が最も重要です！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STEP 7  カラー勤務表への書き込み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DF5"/>
                </a:solidFill>
                <a:latin typeface="Meiryo UI"/>
              </a:defRPr>
            </a:pPr>
            <a:r>
              <a:t>集計結果を各社員のカラー勤務表ファイルに反映します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411480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5FA3"/>
                </a:solidFill>
                <a:latin typeface="Meiryo UI"/>
              </a:defRPr>
            </a:pPr>
            <a:r>
              <a:t>[  「jinjer経費取り込み用」シート 「マクロへ GO！」ボタン スクリーンショット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280160"/>
            <a:ext cx="3383280" cy="41148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8BD8"/>
                </a:solidFill>
                <a:latin typeface="Meiryo UI"/>
              </a:defRPr>
            </a:pPr>
            <a:r>
              <a:t>操作手順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1. 同じ「jinjer経費取り込み用」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シートのまま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2. 「マクロへ GO！」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ボタンをクリック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3. PathListシートのパスを元に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各社員の勤務表ファイルを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自動で開いて書き込む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4. R～Y列の値が各勤務表の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該当欄に転記される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5. 全員分の処理が完了したら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eiryo UI"/>
              </a:defRPr>
            </a:pPr>
            <a:r>
              <a:t>   メッセージが表示される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11274552" cy="640080"/>
          </a:xfrm>
          <a:prstGeom prst="rect">
            <a:avLst/>
          </a:prstGeom>
          <a:solidFill>
            <a:srgbClr val="E8F8E8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B7A30"/>
                </a:solidFill>
                <a:latin typeface="Meiryo UI"/>
              </a:defRPr>
            </a:pPr>
            <a:r>
              <a:t>✅  これで経費処理は完了です！各社員のカラー勤務表を開いて反映を確認してください。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注意事項・よくあるトラブル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377440"/>
          </a:xfrm>
          <a:prstGeom prst="rect">
            <a:avLst/>
          </a:prstGeom>
          <a:solidFill>
            <a:srgbClr val="FFFDE8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441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⚠ 重複データに注意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39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集計シートに同一社員の行が複数できる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ことがあります。STEP 6 で必ず確認し、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重複行は手動で削除してください。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280160"/>
            <a:ext cx="5394960" cy="2377440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280160"/>
            <a:ext cx="539496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4416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🚫 実行順序を守る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920239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STEP 3→4→5 は必ずこの順番で実行。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順番を入れ替えると列の値が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正しく計算されません。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94960" cy="2377440"/>
          </a:xfrm>
          <a:prstGeom prst="rect">
            <a:avLst/>
          </a:prstGeom>
          <a:solidFill>
            <a:srgbClr val="E8F4FD"/>
          </a:solidFill>
          <a:ln w="25400">
            <a:solidFill>
              <a:srgbClr val="008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394960" cy="4572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9592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📁 PathList の更新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新しい社員が入った場合は PathList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シートにカラー勤務表のパスを追加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してから STEP 7 を実行してください。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3931920"/>
            <a:ext cx="5394960" cy="2377440"/>
          </a:xfrm>
          <a:prstGeom prst="rect">
            <a:avLst/>
          </a:prstGeom>
          <a:solidFill>
            <a:srgbClr val="E8F4FD"/>
          </a:solidFill>
          <a:ln w="25400">
            <a:solidFill>
              <a:srgbClr val="00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3931920"/>
            <a:ext cx="5394960" cy="457200"/>
          </a:xfrm>
          <a:prstGeom prst="rect">
            <a:avLst/>
          </a:prstGeom>
          <a:solidFill>
            <a:srgbClr val="00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99592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🔧 設定シートの編集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経費カテゴリの分類キーワードは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「設定」シートで管理しています。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eiryo UI"/>
              </a:defRPr>
            </a:pPr>
            <a:r>
              <a:t>新しい経費種別はここに追加します。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eiryo UI"/>
              </a:defRPr>
            </a:pPr>
            <a:r>
              <a:t>経費一覧表マクロ 操作マニュアル  |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